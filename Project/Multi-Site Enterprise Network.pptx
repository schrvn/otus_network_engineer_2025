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8" r:id="rId18"/>
    <p:sldId id="309" r:id="rId19"/>
    <p:sldId id="310" r:id="rId20"/>
    <p:sldId id="306" r:id="rId21"/>
    <p:sldId id="307" r:id="rId22"/>
    <p:sldId id="263" r:id="rId23"/>
    <p:sldId id="264" r:id="rId24"/>
    <p:sldId id="265" r:id="rId25"/>
    <p:sldId id="266" r:id="rId2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Medium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A8D6C4-915A-4CDF-B38E-3AA9BDDD87F1}">
  <a:tblStyle styleId="{E0A8D6C4-915A-4CDF-B38E-3AA9BDDD87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6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{E0A8D6C4-915A-4CDF-B38E-3AA9BDDD87F1}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{E0A8D6C4-915A-4CDF-B38E-3AA9BDDD87F1}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174044" y="1423604"/>
            <a:ext cx="8348471" cy="1071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отказоустойчивой федеральной корпоративной сети связи</a:t>
            </a:r>
            <a:r>
              <a:rPr lang="en-US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32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29700" y="4155132"/>
            <a:ext cx="2920501" cy="3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Engineer. Professional</a:t>
            </a:r>
            <a:endParaRPr lang="ru-RU"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ru-RU" sz="2800" dirty="0"/>
              <a:t>Организация отказоустойчивой федеральной корпоративной сети связи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096585" y="2612277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Чирвоный Сергей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605085" y="2988177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Сетевой инженер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9B0E37-FB07-4F9C-83C8-89A3B818F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25" y="1997970"/>
            <a:ext cx="2057400" cy="27895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463736446"/>
              </p:ext>
            </p:extLst>
          </p:nvPr>
        </p:nvGraphicFramePr>
        <p:xfrm>
          <a:off x="952500" y="2382125"/>
          <a:ext cx="7239000" cy="2150722"/>
        </p:xfrm>
        <a:graphic>
          <a:graphicData uri="http://schemas.openxmlformats.org/drawingml/2006/table">
            <a:tbl>
              <a:tblPr>
                <a:noFill/>
                <a:tableStyleId>{E0A8D6C4-915A-4CDF-B38E-3AA9BDDD87F1}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Планирование архитектры сети.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Создание схемы и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IP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-плана.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Настройка оборудования.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IP-</a:t>
                      </a: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устройств и стресс тестирование.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создать легко масштабируемую отказоустойчивую сеть связи компании с несколькими офисами и дата центром, расположенном на узле связи.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339798422"/>
              </p:ext>
            </p:extLst>
          </p:nvPr>
        </p:nvGraphicFramePr>
        <p:xfrm>
          <a:off x="952500" y="1897775"/>
          <a:ext cx="7239000" cy="2219810"/>
        </p:xfrm>
        <a:graphic>
          <a:graphicData uri="http://schemas.openxmlformats.org/drawingml/2006/table">
            <a:tbl>
              <a:tblPr>
                <a:noFill/>
                <a:tableStyleId>{E0A8D6C4-915A-4CDF-B38E-3AA9BDDD87F1}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Протоколы динамической маршрутизации: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BGP, OSPF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Стекирование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коммутаторов.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VRRP, Port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hannel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NAT, DHCP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IP SLA, EEM.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233850" y="-65516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получилось: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B1D05B-EED1-4323-BEBA-3058C8C2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50" y="482434"/>
            <a:ext cx="9144000" cy="4438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FF1D9-2D86-47E2-9667-44B4E44D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25" y="57522"/>
            <a:ext cx="3332255" cy="673998"/>
          </a:xfrm>
        </p:spPr>
        <p:txBody>
          <a:bodyPr/>
          <a:lstStyle/>
          <a:p>
            <a:r>
              <a:rPr lang="ru-RU" dirty="0"/>
              <a:t>Настройка </a:t>
            </a:r>
            <a:r>
              <a:rPr lang="en-US" dirty="0"/>
              <a:t>BGP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B7B0D4-C907-4F49-8EF1-66B0F69A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73" y="1366417"/>
            <a:ext cx="2967364" cy="12239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E6AD82-D314-4DAF-9BF9-16ED842C6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31" y="2669780"/>
            <a:ext cx="2967364" cy="3161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66F756-B65D-4435-BF52-A21B20F2C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594" y="1232213"/>
            <a:ext cx="2967364" cy="12383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63A5EE0-367B-4176-A78C-67FD7771C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594" y="2551425"/>
            <a:ext cx="2967364" cy="33512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6076753-7400-493A-BE6F-4D3377A1F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616" y="3144774"/>
            <a:ext cx="2977679" cy="117830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C7A9745-1D97-4F67-8F0E-0F87D46EC8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616" y="4428598"/>
            <a:ext cx="2977679" cy="38579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ED74F4D-85E7-434D-8D93-983B078E44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5594" y="4450302"/>
            <a:ext cx="3004670" cy="37690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EF0AD3B-F25C-4A0D-B494-5F415A45B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5594" y="3100726"/>
            <a:ext cx="3004670" cy="117830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B12197-D577-40D5-BAF8-D5968AEF7DE5}"/>
              </a:ext>
            </a:extLst>
          </p:cNvPr>
          <p:cNvSpPr txBox="1"/>
          <p:nvPr/>
        </p:nvSpPr>
        <p:spPr>
          <a:xfrm>
            <a:off x="680960" y="780831"/>
            <a:ext cx="7497465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На слайде показаны настройки секций </a:t>
            </a:r>
            <a:r>
              <a:rPr lang="en-US" dirty="0"/>
              <a:t>BGP</a:t>
            </a:r>
            <a:r>
              <a:rPr lang="ru-RU" dirty="0"/>
              <a:t> между </a:t>
            </a:r>
            <a:r>
              <a:rPr lang="en-US" dirty="0"/>
              <a:t>M9-R1 -</a:t>
            </a:r>
            <a:r>
              <a:rPr lang="ru-RU" dirty="0"/>
              <a:t> </a:t>
            </a:r>
            <a:r>
              <a:rPr lang="en-US" dirty="0"/>
              <a:t>M9-ISP1 </a:t>
            </a:r>
            <a:r>
              <a:rPr lang="ru-RU" dirty="0"/>
              <a:t>и </a:t>
            </a:r>
            <a:r>
              <a:rPr lang="en-US" dirty="0"/>
              <a:t>M9-R2 -</a:t>
            </a:r>
            <a:r>
              <a:rPr lang="ru-RU" dirty="0"/>
              <a:t> </a:t>
            </a:r>
            <a:r>
              <a:rPr lang="en-US" dirty="0"/>
              <a:t>M9-ISP2.</a:t>
            </a:r>
            <a:endParaRPr lang="ru-RU" dirty="0"/>
          </a:p>
        </p:txBody>
      </p:sp>
      <p:pic>
        <p:nvPicPr>
          <p:cNvPr id="21" name="Google Shape;430;p61">
            <a:extLst>
              <a:ext uri="{FF2B5EF4-FFF2-40B4-BE49-F238E27FC236}">
                <a16:creationId xmlns:a16="http://schemas.microsoft.com/office/drawing/2014/main" id="{AFBDF4F0-6F31-477B-A2AD-FD9D1805E918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2007" y="717136"/>
            <a:ext cx="188953" cy="194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164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718D1F-18FF-486D-A494-DA88AC76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24" y="250169"/>
            <a:ext cx="4290311" cy="583755"/>
          </a:xfrm>
        </p:spPr>
        <p:txBody>
          <a:bodyPr/>
          <a:lstStyle/>
          <a:p>
            <a:r>
              <a:rPr lang="ru-RU" dirty="0"/>
              <a:t>Работа </a:t>
            </a:r>
            <a:r>
              <a:rPr lang="en-US" dirty="0"/>
              <a:t>BGP</a:t>
            </a:r>
            <a:r>
              <a:rPr lang="ru-RU" dirty="0"/>
              <a:t>, слайд 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3BC133-35F7-446A-91CA-4FE79B893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2" y="1674860"/>
            <a:ext cx="4478868" cy="12265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89F6DF-6786-48E2-8A06-7E14E502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6" y="2986067"/>
            <a:ext cx="4476804" cy="9585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24A8F8-D9A1-4CD3-B0F1-F8C6482AF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813" y="1674860"/>
            <a:ext cx="4478868" cy="11970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8E7996-581B-47C2-9141-52902A516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165" y="2970306"/>
            <a:ext cx="4476804" cy="122659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83B6A78-6F1C-4FB3-81FC-A17946931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526" y="4239179"/>
            <a:ext cx="4508082" cy="22396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9D866EF-D2E1-486F-92CC-4E7A204FD6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32" y="4266754"/>
            <a:ext cx="4476804" cy="5867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C6883D-55C7-44AB-89FE-33DF34559136}"/>
              </a:ext>
            </a:extLst>
          </p:cNvPr>
          <p:cNvSpPr txBox="1"/>
          <p:nvPr/>
        </p:nvSpPr>
        <p:spPr>
          <a:xfrm>
            <a:off x="783930" y="944002"/>
            <a:ext cx="6987540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На слайде показано </a:t>
            </a:r>
            <a:r>
              <a:rPr lang="en-US" dirty="0"/>
              <a:t>BGP </a:t>
            </a:r>
            <a:r>
              <a:rPr lang="ru-RU" dirty="0"/>
              <a:t>соседство </a:t>
            </a:r>
            <a:r>
              <a:rPr lang="en-US" dirty="0"/>
              <a:t>M9-R1 </a:t>
            </a:r>
            <a:r>
              <a:rPr lang="ru-RU" dirty="0"/>
              <a:t>и </a:t>
            </a:r>
            <a:r>
              <a:rPr lang="en-US" dirty="0"/>
              <a:t>M9-ISP1</a:t>
            </a:r>
            <a:r>
              <a:rPr lang="ru-RU" dirty="0"/>
              <a:t>, обмен маршрутами</a:t>
            </a:r>
            <a:r>
              <a:rPr lang="en-US" dirty="0"/>
              <a:t> </a:t>
            </a:r>
            <a:r>
              <a:rPr lang="ru-RU" dirty="0"/>
              <a:t>и продемонстрирована доступность интернета через провайдера </a:t>
            </a:r>
            <a:r>
              <a:rPr lang="en-US" dirty="0"/>
              <a:t>ISP1</a:t>
            </a:r>
            <a:r>
              <a:rPr lang="ru-RU" dirty="0"/>
              <a:t>.</a:t>
            </a:r>
          </a:p>
        </p:txBody>
      </p:sp>
      <p:pic>
        <p:nvPicPr>
          <p:cNvPr id="18" name="Google Shape;430;p61">
            <a:extLst>
              <a:ext uri="{FF2B5EF4-FFF2-40B4-BE49-F238E27FC236}">
                <a16:creationId xmlns:a16="http://schemas.microsoft.com/office/drawing/2014/main" id="{08B0B5F8-A894-4139-B2BB-F130F48B9CD2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625" y="1012855"/>
            <a:ext cx="441849" cy="44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F7EA9F6-78E3-44CD-87B3-CBDE89C66F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32" y="3989024"/>
            <a:ext cx="4476804" cy="23328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2EC16FD-A4BE-4A91-8FAC-990E547859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813" y="4487682"/>
            <a:ext cx="3153657" cy="3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36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036DE-417C-457E-AEFD-421038C9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45" y="147187"/>
            <a:ext cx="4117115" cy="566758"/>
          </a:xfrm>
        </p:spPr>
        <p:txBody>
          <a:bodyPr/>
          <a:lstStyle/>
          <a:p>
            <a:r>
              <a:rPr lang="ru-RU" dirty="0"/>
              <a:t>Работа </a:t>
            </a:r>
            <a:r>
              <a:rPr lang="en-US" dirty="0"/>
              <a:t>BGP</a:t>
            </a:r>
            <a:r>
              <a:rPr lang="ru-RU" dirty="0"/>
              <a:t>, слайд 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C745FC-7728-400D-98B4-89BB9870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8" y="1593532"/>
            <a:ext cx="4426436" cy="11953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4C3241-C11B-49F9-8705-D1773253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8" y="2827989"/>
            <a:ext cx="4469110" cy="113420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0BFF80-73E6-4C18-AFB7-2517CDFE5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901" y="1586644"/>
            <a:ext cx="4399832" cy="11953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57A40B-CDA9-472A-85A8-1F9531257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901" y="2820370"/>
            <a:ext cx="4399832" cy="12156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33AE3D4-880B-48C6-A610-C1E882813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899" y="4127718"/>
            <a:ext cx="4399833" cy="56181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3AFCF75-B968-4CE8-B416-1B08929A6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208" y="3991322"/>
            <a:ext cx="4469110" cy="22542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ED94A34-D1A1-4602-8A4A-3D1B456940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8" y="4265670"/>
            <a:ext cx="4469110" cy="5714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1B2388-9A59-4029-B31C-6D0A51210E36}"/>
              </a:ext>
            </a:extLst>
          </p:cNvPr>
          <p:cNvSpPr txBox="1"/>
          <p:nvPr/>
        </p:nvSpPr>
        <p:spPr>
          <a:xfrm>
            <a:off x="910611" y="820915"/>
            <a:ext cx="6987540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На слайде показано </a:t>
            </a:r>
            <a:r>
              <a:rPr lang="en-US" dirty="0"/>
              <a:t>BGP </a:t>
            </a:r>
            <a:r>
              <a:rPr lang="ru-RU" dirty="0"/>
              <a:t>соседство </a:t>
            </a:r>
            <a:r>
              <a:rPr lang="en-US" dirty="0"/>
              <a:t>M9-R2 </a:t>
            </a:r>
            <a:r>
              <a:rPr lang="ru-RU" dirty="0"/>
              <a:t>и </a:t>
            </a:r>
            <a:r>
              <a:rPr lang="en-US" dirty="0"/>
              <a:t>M9-ISP2</a:t>
            </a:r>
            <a:r>
              <a:rPr lang="ru-RU" dirty="0"/>
              <a:t>, обмен маршрутами</a:t>
            </a:r>
            <a:r>
              <a:rPr lang="en-US" dirty="0"/>
              <a:t> </a:t>
            </a:r>
            <a:r>
              <a:rPr lang="ru-RU" dirty="0"/>
              <a:t>и продемонстрирована доступность интернета через провайдера </a:t>
            </a:r>
            <a:r>
              <a:rPr lang="en-US" dirty="0"/>
              <a:t>ISP2</a:t>
            </a:r>
            <a:r>
              <a:rPr lang="ru-RU" dirty="0"/>
              <a:t>.</a:t>
            </a:r>
          </a:p>
        </p:txBody>
      </p:sp>
      <p:pic>
        <p:nvPicPr>
          <p:cNvPr id="19" name="Google Shape;430;p61">
            <a:extLst>
              <a:ext uri="{FF2B5EF4-FFF2-40B4-BE49-F238E27FC236}">
                <a16:creationId xmlns:a16="http://schemas.microsoft.com/office/drawing/2014/main" id="{C6471E10-E4E2-43FF-9E83-A8944251FAB6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3775" y="873531"/>
            <a:ext cx="441849" cy="4418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050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D2476-FB25-44C9-BE98-526C0C1B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216730" cy="645589"/>
          </a:xfrm>
        </p:spPr>
        <p:txBody>
          <a:bodyPr/>
          <a:lstStyle/>
          <a:p>
            <a:r>
              <a:rPr lang="ru-RU" dirty="0"/>
              <a:t>Настройка </a:t>
            </a:r>
            <a:r>
              <a:rPr lang="en-US" dirty="0"/>
              <a:t>OSPF </a:t>
            </a:r>
            <a:r>
              <a:rPr lang="ru-RU" dirty="0"/>
              <a:t>на </a:t>
            </a:r>
            <a:r>
              <a:rPr lang="en-US" dirty="0"/>
              <a:t>M9-R1 </a:t>
            </a:r>
            <a:r>
              <a:rPr lang="ru-RU" dirty="0"/>
              <a:t>и </a:t>
            </a:r>
            <a:r>
              <a:rPr lang="en-US" dirty="0"/>
              <a:t>M9-R2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EE60B7-2D81-40F0-BCB9-373DB8E5D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" y="1875473"/>
            <a:ext cx="4177665" cy="22926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19E9D2-E381-484D-8E53-7668A7E99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23" y="1875471"/>
            <a:ext cx="4730230" cy="22926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EF4757-E328-4EB4-9918-60ED8C6E15F3}"/>
              </a:ext>
            </a:extLst>
          </p:cNvPr>
          <p:cNvSpPr txBox="1"/>
          <p:nvPr/>
        </p:nvSpPr>
        <p:spPr>
          <a:xfrm>
            <a:off x="963076" y="952498"/>
            <a:ext cx="6987540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На слайде показана настройка секции </a:t>
            </a:r>
            <a:r>
              <a:rPr lang="en-US" dirty="0"/>
              <a:t>OSPF </a:t>
            </a:r>
            <a:r>
              <a:rPr lang="ru-RU" dirty="0"/>
              <a:t>на </a:t>
            </a:r>
            <a:r>
              <a:rPr lang="en-US" dirty="0"/>
              <a:t>Core-</a:t>
            </a:r>
            <a:r>
              <a:rPr lang="ru-RU" dirty="0"/>
              <a:t>роутерах </a:t>
            </a:r>
            <a:r>
              <a:rPr lang="en-US" dirty="0"/>
              <a:t>M9-R1 </a:t>
            </a:r>
            <a:r>
              <a:rPr lang="ru-RU" dirty="0"/>
              <a:t>и </a:t>
            </a:r>
            <a:r>
              <a:rPr lang="en-US" dirty="0"/>
              <a:t>M9-R2.</a:t>
            </a:r>
            <a:r>
              <a:rPr lang="ru-RU" dirty="0"/>
              <a:t> </a:t>
            </a:r>
          </a:p>
        </p:txBody>
      </p:sp>
      <p:pic>
        <p:nvPicPr>
          <p:cNvPr id="9" name="Google Shape;430;p61">
            <a:extLst>
              <a:ext uri="{FF2B5EF4-FFF2-40B4-BE49-F238E27FC236}">
                <a16:creationId xmlns:a16="http://schemas.microsoft.com/office/drawing/2014/main" id="{06EE34C8-0A20-4CC3-8748-6AE03965FC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40" y="1005114"/>
            <a:ext cx="441849" cy="4418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0359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391DC-A55A-44C2-916D-CB52D767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</a:t>
            </a:r>
            <a:r>
              <a:rPr lang="en-US" dirty="0"/>
              <a:t>OSPF </a:t>
            </a:r>
            <a:r>
              <a:rPr lang="ru-RU" dirty="0"/>
              <a:t>на </a:t>
            </a:r>
            <a:r>
              <a:rPr lang="en-US" dirty="0"/>
              <a:t>M9-SW1,</a:t>
            </a:r>
            <a:r>
              <a:rPr lang="ru-RU" dirty="0"/>
              <a:t> </a:t>
            </a:r>
            <a:r>
              <a:rPr lang="en-US" dirty="0"/>
              <a:t>M9-SW2, MSK-Office-R1 </a:t>
            </a:r>
            <a:r>
              <a:rPr lang="ru-RU" dirty="0"/>
              <a:t>и </a:t>
            </a:r>
            <a:r>
              <a:rPr lang="en-US" dirty="0"/>
              <a:t>SPB-Office-R1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55E5EF-1A2B-4854-883A-1853A58EA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4" y="1790592"/>
            <a:ext cx="3530566" cy="15623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BC7ED2-30A4-4DC2-8279-58B3EFE3A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24" y="3380216"/>
            <a:ext cx="3530566" cy="14325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59DC81-9FEB-46E9-8FEC-3D3A1A2E8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692" y="3368129"/>
            <a:ext cx="3073718" cy="144464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9048CA-41E0-4FF6-8D60-0EB2DB55E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692" y="1824938"/>
            <a:ext cx="3073718" cy="149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02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FBCFF-952D-47A3-869F-3EBE7E93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90" y="112961"/>
            <a:ext cx="7302330" cy="637969"/>
          </a:xfrm>
        </p:spPr>
        <p:txBody>
          <a:bodyPr/>
          <a:lstStyle/>
          <a:p>
            <a:r>
              <a:rPr lang="ru-RU" dirty="0"/>
              <a:t>Работа </a:t>
            </a:r>
            <a:r>
              <a:rPr lang="en-US" dirty="0"/>
              <a:t>OSPF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F33E3F-5EA7-4A25-B110-43FEA1573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8" y="750930"/>
            <a:ext cx="4914874" cy="8496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8FD47A-99BB-46F1-A00D-49F8DBB3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8" y="1652918"/>
            <a:ext cx="4914874" cy="8744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F6EA71-21DA-4963-AE99-7C809E6DC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58" y="2624329"/>
            <a:ext cx="4914874" cy="5527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3397AF-E091-4668-9352-53FE131D4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58" y="3233137"/>
            <a:ext cx="4909648" cy="5355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A9DD59-25BB-4E99-9819-380296B22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58" y="3848382"/>
            <a:ext cx="4909648" cy="54418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259D2E9-81AC-4CE2-B3BE-1341E3AF0C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8" y="4477765"/>
            <a:ext cx="5030243" cy="5527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9E94F3F-1111-4713-8726-B5B99D914BFD}"/>
              </a:ext>
            </a:extLst>
          </p:cNvPr>
          <p:cNvSpPr txBox="1"/>
          <p:nvPr/>
        </p:nvSpPr>
        <p:spPr>
          <a:xfrm>
            <a:off x="5549970" y="941490"/>
            <a:ext cx="3520440" cy="81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На слайде показано соседство </a:t>
            </a:r>
            <a:r>
              <a:rPr lang="en-US" dirty="0"/>
              <a:t>OSPF. </a:t>
            </a:r>
            <a:r>
              <a:rPr lang="ru-RU" dirty="0"/>
              <a:t>Все роутеры выстраивают соседство с двумя </a:t>
            </a:r>
            <a:r>
              <a:rPr lang="en-US" dirty="0"/>
              <a:t>Core-</a:t>
            </a:r>
            <a:r>
              <a:rPr lang="ru-RU" dirty="0"/>
              <a:t>роутерами </a:t>
            </a:r>
            <a:r>
              <a:rPr lang="en-US" dirty="0"/>
              <a:t>M9-R1 </a:t>
            </a:r>
            <a:r>
              <a:rPr lang="ru-RU" dirty="0"/>
              <a:t>и </a:t>
            </a:r>
            <a:r>
              <a:rPr lang="en-US" dirty="0"/>
              <a:t>M9-R2</a:t>
            </a:r>
            <a:r>
              <a:rPr lang="ru-RU" dirty="0"/>
              <a:t>.</a:t>
            </a:r>
          </a:p>
        </p:txBody>
      </p:sp>
      <p:pic>
        <p:nvPicPr>
          <p:cNvPr id="17" name="Google Shape;430;p61">
            <a:extLst>
              <a:ext uri="{FF2B5EF4-FFF2-40B4-BE49-F238E27FC236}">
                <a16:creationId xmlns:a16="http://schemas.microsoft.com/office/drawing/2014/main" id="{3C1C5908-A4D8-403C-AF32-06A2020A107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78264" y="621559"/>
            <a:ext cx="319931" cy="319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487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23C4-B0B7-48DF-9DF0-1FAB4E31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210" y="574564"/>
            <a:ext cx="7233750" cy="774176"/>
          </a:xfrm>
        </p:spPr>
        <p:txBody>
          <a:bodyPr/>
          <a:lstStyle/>
          <a:p>
            <a:r>
              <a:rPr lang="ru-RU" dirty="0"/>
              <a:t>Описание работы маршрутизации</a:t>
            </a:r>
          </a:p>
        </p:txBody>
      </p:sp>
      <p:sp>
        <p:nvSpPr>
          <p:cNvPr id="7" name="Google Shape;252;p47">
            <a:extLst>
              <a:ext uri="{FF2B5EF4-FFF2-40B4-BE49-F238E27FC236}">
                <a16:creationId xmlns:a16="http://schemas.microsoft.com/office/drawing/2014/main" id="{EFDFABA2-72D2-47F4-B8CA-711AC184DBF3}"/>
              </a:ext>
            </a:extLst>
          </p:cNvPr>
          <p:cNvSpPr txBox="1"/>
          <p:nvPr/>
        </p:nvSpPr>
        <p:spPr>
          <a:xfrm>
            <a:off x="388620" y="1509761"/>
            <a:ext cx="8588670" cy="266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M9-R1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получает дефолт по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от провайдера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M9-ISP1</a:t>
            </a:r>
            <a:endParaRPr lang="ru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M9-R2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получает дефолт по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от провайдера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M9-ISP2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M9-R1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является основной точкой маршрутизации и выходом в интернет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анонсирует всем роутерам дефолтный маршрут по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OSPF</a:t>
            </a:r>
            <a:r>
              <a:rPr lang="ru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7500">
              <a:lnSpc>
                <a:spcPct val="115000"/>
              </a:lnSpc>
              <a:buSzPts val="1400"/>
              <a:buFont typeface="Roboto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M9-R2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анонсирует всем роутерам дефолтный маршрут по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OSPF</a:t>
            </a:r>
            <a:r>
              <a:rPr lang="ru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большей метрикой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M9-R2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является резервной точкой маршрутизации и выходом в интернет </a:t>
            </a:r>
            <a:endParaRPr dirty="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indent="-317500">
              <a:lnSpc>
                <a:spcPct val="115000"/>
              </a:lnSpc>
              <a:buSzPts val="1400"/>
              <a:buFont typeface="Roboto"/>
              <a:buChar char="●"/>
            </a:pPr>
            <a:r>
              <a:rPr lang="ru-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Если упадёт </a:t>
            </a:r>
            <a:r>
              <a:rPr lang="en-US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BGP </a:t>
            </a:r>
            <a:r>
              <a:rPr lang="ru-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между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M9-R1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M9-ISP1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, то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M9-R1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перестанет анонсировать дефолт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OSPF</a:t>
            </a:r>
            <a:endParaRPr dirty="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-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Если пропадёт интернет на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M9-R1</a:t>
            </a:r>
            <a:r>
              <a:rPr lang="ru-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то благодаря </a:t>
            </a:r>
            <a:r>
              <a:rPr lang="en-US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IP SLA </a:t>
            </a:r>
            <a:r>
              <a:rPr lang="ru-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EEM</a:t>
            </a:r>
            <a:r>
              <a:rPr lang="ru-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метрика анонсируемого дефолта на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M9-R1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увеличиться и будет больше чем на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M9-R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2 до восстановления интернета через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M9-ISP1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Google Shape;342;p50">
            <a:extLst>
              <a:ext uri="{FF2B5EF4-FFF2-40B4-BE49-F238E27FC236}">
                <a16:creationId xmlns:a16="http://schemas.microsoft.com/office/drawing/2014/main" id="{EFAC9F64-F117-41CA-BF21-D964BF8FD7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5468" y="155400"/>
            <a:ext cx="765850" cy="1124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370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AF771-3F90-4466-9FA1-465042BF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35" y="136580"/>
            <a:ext cx="8018610" cy="1040876"/>
          </a:xfrm>
        </p:spPr>
        <p:txBody>
          <a:bodyPr/>
          <a:lstStyle/>
          <a:p>
            <a:r>
              <a:rPr lang="ru-RU" dirty="0"/>
              <a:t>Работа маршрутизации при падении </a:t>
            </a:r>
            <a:r>
              <a:rPr lang="en-US" dirty="0"/>
              <a:t>BGP </a:t>
            </a:r>
            <a:r>
              <a:rPr lang="ru-RU" dirty="0"/>
              <a:t>на </a:t>
            </a:r>
            <a:r>
              <a:rPr lang="en-US" dirty="0"/>
              <a:t>M9-R1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66E74B2-0CEE-4D2E-BAB0-D84414779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63" y="3253346"/>
            <a:ext cx="3792207" cy="4936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21EEDA-E1E5-41B5-9272-0565DACEB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63" y="3797854"/>
            <a:ext cx="3807235" cy="109485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1D32BA4-F3BA-4931-B0A9-0AE9BFB9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5" y="3096563"/>
            <a:ext cx="3889362" cy="113561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5401440-6402-4394-A16B-75B5B0508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5" y="4277649"/>
            <a:ext cx="3962890" cy="52534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0EC9E92-390D-4CF1-AFA2-2DD9DF9B2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35" y="2076592"/>
            <a:ext cx="3807235" cy="1166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574F26-C011-4AF1-9B05-2CEDD116D0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6273" y="2092407"/>
            <a:ext cx="3912827" cy="9586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B40E7B-E0EF-4203-86F5-9CDB9E99E1E0}"/>
              </a:ext>
            </a:extLst>
          </p:cNvPr>
          <p:cNvSpPr txBox="1"/>
          <p:nvPr/>
        </p:nvSpPr>
        <p:spPr>
          <a:xfrm>
            <a:off x="1214160" y="1495912"/>
            <a:ext cx="7304970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При падении </a:t>
            </a:r>
            <a:r>
              <a:rPr lang="en-US" dirty="0"/>
              <a:t>BGP </a:t>
            </a:r>
            <a:r>
              <a:rPr lang="ru-RU" dirty="0"/>
              <a:t>интернет становится доступен через </a:t>
            </a:r>
            <a:r>
              <a:rPr lang="en-US" dirty="0"/>
              <a:t>M9-R2 </a:t>
            </a:r>
            <a:r>
              <a:rPr lang="ru-RU" dirty="0"/>
              <a:t>и </a:t>
            </a:r>
            <a:r>
              <a:rPr lang="en-US" dirty="0"/>
              <a:t>ISP2.</a:t>
            </a:r>
            <a:endParaRPr lang="ru-RU" dirty="0"/>
          </a:p>
        </p:txBody>
      </p:sp>
      <p:pic>
        <p:nvPicPr>
          <p:cNvPr id="20" name="Google Shape;430;p61">
            <a:extLst>
              <a:ext uri="{FF2B5EF4-FFF2-40B4-BE49-F238E27FC236}">
                <a16:creationId xmlns:a16="http://schemas.microsoft.com/office/drawing/2014/main" id="{3CDD5FAC-CAF7-40F0-97A0-0D97821CA87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4229" y="1335946"/>
            <a:ext cx="319931" cy="319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4507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5C48B-7608-48A3-8580-7399A45AB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30" y="167947"/>
            <a:ext cx="8520600" cy="1095900"/>
          </a:xfrm>
        </p:spPr>
        <p:txBody>
          <a:bodyPr/>
          <a:lstStyle/>
          <a:p>
            <a:r>
              <a:rPr lang="ru-RU" dirty="0"/>
              <a:t>Работа маршрутизации при падении интернета</a:t>
            </a:r>
            <a:r>
              <a:rPr lang="en-US" dirty="0"/>
              <a:t> </a:t>
            </a:r>
            <a:r>
              <a:rPr lang="ru-RU" dirty="0"/>
              <a:t>через </a:t>
            </a:r>
            <a:r>
              <a:rPr lang="en-US" dirty="0"/>
              <a:t>ISP1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FB46AF-8A8C-4BC5-BB5A-57F2DEC7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2" y="2448322"/>
            <a:ext cx="2853204" cy="15868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DDD410-549B-46A4-BA3B-92E323B9A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2" y="4175264"/>
            <a:ext cx="3681601" cy="5689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5AC8D9-CBC5-46C1-9FC4-98A8E31F3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2" y="4812776"/>
            <a:ext cx="4491038" cy="1857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4E4068-540A-4156-90B4-15900BFF3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085" y="2330105"/>
            <a:ext cx="3027571" cy="158686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C67D0DA-CE6F-47F5-9FD0-7319724BE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8085" y="3996425"/>
            <a:ext cx="3069847" cy="44632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C6DF5D1-4103-439E-BD15-AC0D0C879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085" y="4522205"/>
            <a:ext cx="3027571" cy="4763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51A470C-0C1C-484C-8128-51C8F72561EF}"/>
              </a:ext>
            </a:extLst>
          </p:cNvPr>
          <p:cNvSpPr txBox="1"/>
          <p:nvPr/>
        </p:nvSpPr>
        <p:spPr>
          <a:xfrm>
            <a:off x="1061760" y="1469307"/>
            <a:ext cx="7304970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При падении</a:t>
            </a:r>
            <a:r>
              <a:rPr lang="en-US" dirty="0"/>
              <a:t> </a:t>
            </a:r>
            <a:r>
              <a:rPr lang="ru-RU" dirty="0"/>
              <a:t>интернета у </a:t>
            </a:r>
            <a:r>
              <a:rPr lang="en-US" dirty="0"/>
              <a:t>ISP1 </a:t>
            </a:r>
            <a:r>
              <a:rPr lang="ru-RU" dirty="0"/>
              <a:t>увеличивается метрика дефолта на </a:t>
            </a:r>
            <a:r>
              <a:rPr lang="en-US" dirty="0"/>
              <a:t>M9-R1</a:t>
            </a:r>
            <a:r>
              <a:rPr lang="ru-RU" dirty="0"/>
              <a:t> в </a:t>
            </a:r>
            <a:r>
              <a:rPr lang="en-US" dirty="0"/>
              <a:t>OSPF </a:t>
            </a:r>
            <a:r>
              <a:rPr lang="ru-RU" dirty="0"/>
              <a:t>и интернет становится доступен через </a:t>
            </a:r>
            <a:r>
              <a:rPr lang="en-US" dirty="0"/>
              <a:t>M9-R2 </a:t>
            </a:r>
            <a:r>
              <a:rPr lang="ru-RU" dirty="0"/>
              <a:t>и </a:t>
            </a:r>
            <a:r>
              <a:rPr lang="en-US" dirty="0"/>
              <a:t>ISP2.</a:t>
            </a:r>
            <a:endParaRPr lang="ru-RU" dirty="0"/>
          </a:p>
        </p:txBody>
      </p:sp>
      <p:pic>
        <p:nvPicPr>
          <p:cNvPr id="17" name="Google Shape;430;p61">
            <a:extLst>
              <a:ext uri="{FF2B5EF4-FFF2-40B4-BE49-F238E27FC236}">
                <a16:creationId xmlns:a16="http://schemas.microsoft.com/office/drawing/2014/main" id="{733A1720-B58E-4CF1-8E8E-574F641C738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1829" y="1380727"/>
            <a:ext cx="319931" cy="319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2287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85E31-76CB-43FE-BFFE-414CFEE9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458012"/>
            <a:ext cx="8121989" cy="1044632"/>
          </a:xfrm>
        </p:spPr>
        <p:txBody>
          <a:bodyPr/>
          <a:lstStyle/>
          <a:p>
            <a:r>
              <a:rPr lang="ru-RU" dirty="0"/>
              <a:t>Настройка </a:t>
            </a:r>
            <a:r>
              <a:rPr lang="en-US" dirty="0"/>
              <a:t>EEM (Embedded Event Manager)</a:t>
            </a:r>
            <a:br>
              <a:rPr lang="en-US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2942F5-23B7-4B74-A401-24E6DF69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502644"/>
            <a:ext cx="6084570" cy="2930982"/>
          </a:xfrm>
          <a:prstGeom prst="rect">
            <a:avLst/>
          </a:prstGeom>
        </p:spPr>
      </p:pic>
      <p:pic>
        <p:nvPicPr>
          <p:cNvPr id="7" name="Google Shape;345;p50">
            <a:extLst>
              <a:ext uri="{FF2B5EF4-FFF2-40B4-BE49-F238E27FC236}">
                <a16:creationId xmlns:a16="http://schemas.microsoft.com/office/drawing/2014/main" id="{4CD007B3-E085-4AC4-BF4E-741DDB690A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15" y="126064"/>
            <a:ext cx="664384" cy="6638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0986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5494A-6E3F-4AFD-A6BB-A8EA905B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C549F4-4C66-4B86-A099-C5088B9BA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Дата Центре по проекту расположены два </a:t>
            </a:r>
            <a:r>
              <a:rPr lang="en-US" dirty="0"/>
              <a:t>L3</a:t>
            </a:r>
            <a:r>
              <a:rPr lang="ru-RU" dirty="0"/>
              <a:t>-коммутатора </a:t>
            </a:r>
            <a:r>
              <a:rPr lang="en-US" dirty="0"/>
              <a:t>c </a:t>
            </a:r>
            <a:r>
              <a:rPr lang="ru-RU" dirty="0"/>
              <a:t>настроенным </a:t>
            </a:r>
            <a:r>
              <a:rPr lang="en-US" dirty="0"/>
              <a:t>VRRP </a:t>
            </a:r>
            <a:r>
              <a:rPr lang="ru-RU" dirty="0"/>
              <a:t>для серверной инфраструктуры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Но из-за проблем с прохождением </a:t>
            </a:r>
            <a:r>
              <a:rPr lang="en-US" dirty="0"/>
              <a:t>L3-</a:t>
            </a:r>
            <a:r>
              <a:rPr lang="ru-RU" dirty="0"/>
              <a:t>трафика через </a:t>
            </a:r>
            <a:r>
              <a:rPr lang="en-US" dirty="0"/>
              <a:t>IOL-</a:t>
            </a:r>
            <a:r>
              <a:rPr lang="ru-RU" dirty="0"/>
              <a:t>коммутаторы было принято решение поставить вместо них образы роутеров и отказаться от </a:t>
            </a:r>
            <a:r>
              <a:rPr lang="en-US" dirty="0"/>
              <a:t>VRRP</a:t>
            </a:r>
            <a:r>
              <a:rPr lang="ru-RU" dirty="0"/>
              <a:t>, добавив резервный сервер </a:t>
            </a:r>
            <a:r>
              <a:rPr lang="en-US" dirty="0"/>
              <a:t>DNS.</a:t>
            </a:r>
            <a:endParaRPr lang="ru-RU" dirty="0"/>
          </a:p>
          <a:p>
            <a:pPr marL="133350" indent="0">
              <a:buNone/>
            </a:pPr>
            <a:endParaRPr lang="ru-RU" dirty="0"/>
          </a:p>
        </p:txBody>
      </p:sp>
      <p:pic>
        <p:nvPicPr>
          <p:cNvPr id="4" name="Google Shape;324;p49">
            <a:extLst>
              <a:ext uri="{FF2B5EF4-FFF2-40B4-BE49-F238E27FC236}">
                <a16:creationId xmlns:a16="http://schemas.microsoft.com/office/drawing/2014/main" id="{D57CB0C6-EC88-47A1-8D89-632CB11F7C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98558" y="2653365"/>
            <a:ext cx="341294" cy="341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7812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619B9D-486D-4A1D-8C14-C18504B3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52" y="230663"/>
            <a:ext cx="8520600" cy="1095900"/>
          </a:xfrm>
        </p:spPr>
        <p:txBody>
          <a:bodyPr/>
          <a:lstStyle/>
          <a:p>
            <a:r>
              <a:rPr lang="ru-RU" dirty="0"/>
              <a:t>Настройки для сотрудников филиалов.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6334A0-988A-468E-8A82-E482BCBC7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1926701"/>
            <a:ext cx="3862803" cy="28860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D92231-2085-4C10-8D69-70D479439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516" y="1893220"/>
            <a:ext cx="3862803" cy="29595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331CD5-6638-4D25-A9E1-C33C9A04C3E2}"/>
              </a:ext>
            </a:extLst>
          </p:cNvPr>
          <p:cNvSpPr txBox="1"/>
          <p:nvPr/>
        </p:nvSpPr>
        <p:spPr>
          <a:xfrm>
            <a:off x="677119" y="1143245"/>
            <a:ext cx="6843822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-RU" dirty="0"/>
              <a:t>Сотрудники получают настройки по </a:t>
            </a:r>
            <a:r>
              <a:rPr lang="en-US" dirty="0"/>
              <a:t>DHCP </a:t>
            </a:r>
            <a:r>
              <a:rPr lang="ru-RU" dirty="0"/>
              <a:t>от региональных маршрутизаторов. На скриншотах показана доступность интернета и обоих </a:t>
            </a:r>
            <a:r>
              <a:rPr lang="en-US" dirty="0"/>
              <a:t>DNS-</a:t>
            </a:r>
            <a:r>
              <a:rPr lang="ru-RU" dirty="0"/>
              <a:t>серверов.</a:t>
            </a:r>
          </a:p>
        </p:txBody>
      </p:sp>
      <p:pic>
        <p:nvPicPr>
          <p:cNvPr id="9" name="Google Shape;430;p61">
            <a:extLst>
              <a:ext uri="{FF2B5EF4-FFF2-40B4-BE49-F238E27FC236}">
                <a16:creationId xmlns:a16="http://schemas.microsoft.com/office/drawing/2014/main" id="{45C10255-5EB4-4EEE-A5EA-C80957AE29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187" y="1054665"/>
            <a:ext cx="319931" cy="31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83;p49">
            <a:extLst>
              <a:ext uri="{FF2B5EF4-FFF2-40B4-BE49-F238E27FC236}">
                <a16:creationId xmlns:a16="http://schemas.microsoft.com/office/drawing/2014/main" id="{061AA7E9-AF10-42CF-AE74-6F71424B4FF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83075" y="756923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93;p49">
            <a:extLst>
              <a:ext uri="{FF2B5EF4-FFF2-40B4-BE49-F238E27FC236}">
                <a16:creationId xmlns:a16="http://schemas.microsoft.com/office/drawing/2014/main" id="{34FB5E9B-C02B-4B57-8DAA-86A7E805FA4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4625" y="724384"/>
            <a:ext cx="602188" cy="6021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691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8" name="Google Shape;252;p47">
            <a:extLst>
              <a:ext uri="{FF2B5EF4-FFF2-40B4-BE49-F238E27FC236}">
                <a16:creationId xmlns:a16="http://schemas.microsoft.com/office/drawing/2014/main" id="{01202D91-5EE9-47F6-A14F-D5FE34B59EA3}"/>
              </a:ext>
            </a:extLst>
          </p:cNvPr>
          <p:cNvSpPr txBox="1"/>
          <p:nvPr/>
        </p:nvSpPr>
        <p:spPr>
          <a:xfrm>
            <a:off x="281940" y="1028205"/>
            <a:ext cx="8588568" cy="3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 dirty="0">
                <a:latin typeface="Roboto"/>
                <a:ea typeface="Roboto"/>
                <a:cs typeface="Roboto"/>
                <a:sym typeface="Roboto"/>
              </a:rPr>
              <a:t>Удалось всё реализовать кроме стека,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VRRP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Port-Channel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из-за неполноценности образов</a:t>
            </a:r>
            <a:endParaRPr lang="ru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Трудности возникли с багами и урезанными функциями виртуальных образов оборудования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Проект занял около недели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Полезность проекта оцениваю на 10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Вопрос есть, существуют ли полностью рабочие образы?</a:t>
            </a:r>
            <a:endParaRPr dirty="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Для дальнейшего развития, помимо рабочей деятельности, продолжу делать лабораторные работы в виртуальной среде и смотреть тематические видео по сетевым технологиям.</a:t>
            </a:r>
            <a:endParaRPr dirty="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 dirty="0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 dirty="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 dirty="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sz="15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sz="15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596</Words>
  <Application>Microsoft Office PowerPoint</Application>
  <PresentationFormat>Экран (16:9)</PresentationFormat>
  <Paragraphs>82</Paragraphs>
  <Slides>23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Courier New</vt:lpstr>
      <vt:lpstr>Arial</vt:lpstr>
      <vt:lpstr>Roboto</vt:lpstr>
      <vt:lpstr>Roboto Medium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Организация отказоустойчивой федеральной корпоративной сети связи   </vt:lpstr>
      <vt:lpstr>План защиты</vt:lpstr>
      <vt:lpstr>Презентация PowerPoint</vt:lpstr>
      <vt:lpstr>Какие технологии использовались </vt:lpstr>
      <vt:lpstr>Что получилось:</vt:lpstr>
      <vt:lpstr>Настройка BGP</vt:lpstr>
      <vt:lpstr>Работа BGP, слайд 1</vt:lpstr>
      <vt:lpstr>Работа BGP, слайд 2</vt:lpstr>
      <vt:lpstr>Настройка OSPF на M9-R1 и M9-R2 </vt:lpstr>
      <vt:lpstr>Настройка OSPF на M9-SW1, M9-SW2, MSK-Office-R1 и SPB-Office-R1 </vt:lpstr>
      <vt:lpstr>Работа OSPF</vt:lpstr>
      <vt:lpstr>Описание работы маршрутизации</vt:lpstr>
      <vt:lpstr>Работа маршрутизации при падении BGP на M9-R1</vt:lpstr>
      <vt:lpstr>Работа маршрутизации при падении интернета через ISP1</vt:lpstr>
      <vt:lpstr>Настройка EEM (Embedded Event Manager) </vt:lpstr>
      <vt:lpstr>Data Center</vt:lpstr>
      <vt:lpstr>Настройки для сотрудников филиалов.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Чирвоный Сергей</dc:creator>
  <cp:lastModifiedBy>Чирвоный Сергей</cp:lastModifiedBy>
  <cp:revision>22</cp:revision>
  <dcterms:modified xsi:type="dcterms:W3CDTF">2025-12-22T23:25:05Z</dcterms:modified>
</cp:coreProperties>
</file>